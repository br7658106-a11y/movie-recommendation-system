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286000" cy="5143500"/>
          </a:xfrm>
          <a:prstGeom prst="rect">
            <a:avLst/>
          </a:prstGeom>
          <a:solidFill>
            <a:srgbClr val="1A3C6E">
              <a:alpha val="40000"/>
            </a:srgbClr>
          </a:solidFill>
          <a:ln w="12700">
            <a:solidFill>
              <a:srgbClr val="1A3C6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1371600" cy="5143500"/>
          </a:xfrm>
          <a:prstGeom prst="rect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011680" cy="3200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INTERNSHIP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Movie Recommendation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CD4"/>
                </a:solidFill>
              </a:rPr>
              <a:t>Content-Based &amp; Collaborative Filtering Using Python &amp; scikit-learn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943600" cy="0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93192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TF-IDF Vectorization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93192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Cosine Similarity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93192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Collaborative Filtering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93192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  • 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1920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155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4475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 dual-algorithm movie recommender that suggests films based on content similarity and user behavior patterns.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54864" cy="1920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1155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44475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Recommender systems power Netflix, Amazon, Spotify. Understanding them is foundational AI/ML knowledge.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1920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1155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Approach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444752"/>
            <a:ext cx="2542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Six-step pipeline: data ingestion, preprocessing, feature engineering, modelling, recommendation, and evaluation.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6E"/>
                </a:solidFill>
              </a:rPr>
              <a:t>Key Objectives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</a:rPr>
              <a:t>Load &amp; preprocess movie/ratings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</a:rPr>
              <a:t>Engineer TF-IDF features from genre + description metadata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</a:rPr>
              <a:t>Build content-based (TF-IDF + cosine) recommendation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</a:rPr>
              <a:t>Implement user-based collaborative filtering as a bonus module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</a:rPr>
              <a:t>Evaluate recommendations on test movies and document findings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1 &amp; 2: Data Collection &amp;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8288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96F3"/>
                </a:solidFill>
              </a:rPr>
              <a:t>2 CSVs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960120"/>
            <a:ext cx="182880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1A3C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960120"/>
            <a:ext cx="1828800" cy="7315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3C6E"/>
                </a:solidFill>
              </a:rPr>
              <a:t>movies.csv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3317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Movie Metadata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960120"/>
            <a:ext cx="182880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960120"/>
            <a:ext cx="18288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</a:rPr>
              <a:t>ratings.csv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2976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User Ratings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960120"/>
            <a:ext cx="228600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960120"/>
            <a:ext cx="2286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43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300"/>
                </a:solidFill>
              </a:rPr>
              <a:t>4 Columns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Per Dataset (avg)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</a:rPr>
              <a:t>Dataset Structure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movies.csv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movieId, title, genres, 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Content metadata for TF-IDF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ratings.csv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userId, movieId, rating, timestamp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User-item matrix for collab filter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Merged Dataset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+ avg_rating, num_ratings, tags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</a:rPr>
                        <a:t>Enriched features for modelling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286000" y="2926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310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</a:rPr>
              <a:t>movies.csv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286000" y="3310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movieId, title, genres, description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43600" y="3310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Content metadata for TF-IDF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3694176"/>
            <a:ext cx="841248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694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</a:rPr>
              <a:t>ratings.csv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286000" y="3694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userId, movieId, rating, timestamp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43600" y="36941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User-item matrix for collaborative filter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4078224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078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</a:rPr>
              <a:t>Merged Dataset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2860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+ avg_rating, num_ratings, tags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943600" y="4078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Enriched features for modelling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3: Feature Engineering — TF-IDF Vectorization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</a:rPr>
              <a:t>What is TF-IDF?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Term Frequency-Inverse Document Frequency converts raw text into numerical vectors by weighting each word by how often it appears in a document vs across all documents.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Words that are distinctive to a movie get higher weights, while common words get lower ones.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Configuration Used: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37160" cy="137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47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max_features = 5,000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37160" cy="137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stop_words = 'english'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137160" cy="137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Input: genres + description (tags column)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137160" cy="137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982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Output: Sparse TF-IDF matrix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</a:rPr>
              <a:t>Feature Pipeline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3474720" cy="4206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genres + description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48272" y="1929384"/>
            <a:ext cx="0" cy="20116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130552"/>
            <a:ext cx="3474720" cy="4206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21305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Lowercase &amp; Clean 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48272" y="2551176"/>
            <a:ext cx="0" cy="20116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752344"/>
            <a:ext cx="3474720" cy="420624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7523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'tags' Column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48272" y="3172968"/>
            <a:ext cx="0" cy="20116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374136"/>
            <a:ext cx="3474720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337413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TF-IDF Fit &amp; Transform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48272" y="3794760"/>
            <a:ext cx="0" cy="20116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995928"/>
            <a:ext cx="3474720" cy="42062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9959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Sparse Matrix (N × 5000)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4: Model Building — Cosine Similarity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</a:rPr>
              <a:t>cosine_similarity(A, B)  =  (A · B) / (‖A‖ × ‖B‖)    →    Score Range: 0.0 (no match)  to  1.0 (identical)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57400"/>
            <a:ext cx="54864" cy="20116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1671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Why Cosine?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496312"/>
            <a:ext cx="2542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It is length-normalized — a short and long description can still score very similar if they share key terms. Perfect for TF-IDF vectors.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57400"/>
            <a:ext cx="54864" cy="20116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1671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Similarity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496312"/>
            <a:ext cx="2542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Output is an N×N matrix where each cell [i][j] represents how similar movie i is to movie j. Shape: (num_movies × num_movies).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057400"/>
            <a:ext cx="54864" cy="2011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1671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How It's Used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96312"/>
            <a:ext cx="2542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Given a query movie index, we retrieve its similarity row, sort descending, and return the top-N entries — skipping the movie itself.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1E305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= cosine_similarity(tfidf_matrix)    # shape: (N, 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sim_scores = sorted(enumerate(similarity[idx]), key=lambda x: x[1], reverse=True)[1:top_n+1]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Algorithm 1: Content-Based Filtering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3931920"/>
          </a:xfrm>
          <a:prstGeom prst="rect">
            <a:avLst/>
          </a:prstGeom>
          <a:solidFill>
            <a:srgbClr val="F0F4FA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Accept movie title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21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Case-insensitive match in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620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Retrieve similarity row for movie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Sort scores descending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142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Return top-N (excluding self)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</a:rPr>
              <a:t>Output Format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0" y="1554480"/>
            <a:ext cx="274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554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554480"/>
            <a:ext cx="12344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554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Title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1554480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54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60920" y="1554480"/>
            <a:ext cx="731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15544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Rating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92440" y="1554480"/>
            <a:ext cx="685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15544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 Score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1901952"/>
            <a:ext cx="274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9019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190195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19019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Interstellar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190195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901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Sci-Fi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1901952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19019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4.6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92440" y="190195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19019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</a:rPr>
              <a:t>0.8740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2249424"/>
            <a:ext cx="2743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24942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0" y="2249424"/>
            <a:ext cx="123444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2494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The Matrix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37960" y="2249424"/>
            <a:ext cx="82296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2494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Sci-Fi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60920" y="2249424"/>
            <a:ext cx="7315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22494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4.4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92440" y="2249424"/>
            <a:ext cx="68580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224942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</a:rPr>
              <a:t>0.8215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0" y="2596896"/>
            <a:ext cx="274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25968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03520" y="2596896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0" y="2596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Tenet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537960" y="259689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2596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Thriller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60920" y="2596896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60920" y="25968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4.1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92440" y="2596896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92440" y="2596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</a:rPr>
              <a:t>0.7890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0" y="2944368"/>
            <a:ext cx="2743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29443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2944368"/>
            <a:ext cx="123444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0" y="2944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Memento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537960" y="2944368"/>
            <a:ext cx="82296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29443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Thriller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60920" y="2944368"/>
            <a:ext cx="7315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60920" y="29443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4.3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092440" y="2944368"/>
            <a:ext cx="68580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92440" y="29443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</a:rPr>
              <a:t>0.7501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029200" y="3291840"/>
            <a:ext cx="274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303520" y="3291840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0" y="3291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Looper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537960" y="329184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37960" y="3291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Sci-Fi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60920" y="3291840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60920" y="3291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3.9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092440" y="32918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92440" y="32918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</a:rPr>
              <a:t>0.7120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84632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Sample output for query: 'Inception'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Algorithm 2: Collaborative Filtering (User-Based)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0F4FA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6362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63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Build userId × movieTitle pivot table from ratings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6654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Compute cosine similarity between all user vectors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Find the 10 most similar users to the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Collect movies not yet rated by target user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Compute weighted avg predicted ratings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Return top-N movies by predicted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Content-Based vs Collaborative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508760"/>
            <a:ext cx="126187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5087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Criterion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508760"/>
            <a:ext cx="126187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5087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Content-Based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1508760"/>
            <a:ext cx="1261872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5087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Collaborative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01168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011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6E"/>
                </a:solidFill>
              </a:rPr>
              <a:t>Input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201168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11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Movie metadata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52360" y="201168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0116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User ratings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51460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1460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6E"/>
                </a:solidFill>
              </a:rPr>
              <a:t>Similarity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251460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51460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TF-IDF vectors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52360" y="251460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51460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User vectors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301752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175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6E"/>
                </a:solidFill>
              </a:rPr>
              <a:t>Cold Start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301752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0175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No problem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301752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30175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Problematic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352044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5204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6E"/>
                </a:solidFill>
              </a:rPr>
              <a:t>Personalized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352044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35204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Low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52360" y="3520440"/>
            <a:ext cx="1261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35204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402336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0233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C6E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402336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40233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O(N²) terms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52360" y="4023360"/>
            <a:ext cx="1261872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40233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O(U²) users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6: 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01168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96F3"/>
                </a:solidFill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Test Movies Evaluated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1168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3C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60120"/>
            <a:ext cx="2011680" cy="7315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43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3C6E"/>
                </a:solidFill>
              </a:rPr>
              <a:t>0.35–0.85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Similarity Score Range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1168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201168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</a:rPr>
              <a:t>5,000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TF-IDF Vocabulary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2011680" cy="1234440"/>
          </a:xfrm>
          <a:prstGeom prst="rect">
            <a:avLst/>
          </a:prstGeom>
          <a:solidFill>
            <a:srgbClr val="F0F4FA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60120"/>
            <a:ext cx="201168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43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53"/>
                </a:solidFill>
              </a:rPr>
              <a:t>100%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Genre Coherence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</a:rPr>
              <a:t>Test Case Results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88920"/>
            <a:ext cx="27432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Inception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319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Sci-Fi / Thriller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Returned mind-bending thrillers: Interstellar, Tenet, The Matrix — perfect genre match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7889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788920"/>
            <a:ext cx="274320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Lion King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3319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Animation / Family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Surfaced animated classics: Aladdin, Mulan, Toy Story — excellent thematic coherence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7889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88920"/>
            <a:ext cx="274320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Joker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319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Crime / Drama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Recommended character-driven dramas: Taxi Driver, Requiem for a Dream, Fight Club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234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Genre Coherence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Content-based filter consistently matched genre and theme for all 3 test movies. TF-IDF tags effectively encoded genre semantics.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1234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Personalization via CF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990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Collaborative filtering recommended movies beyond genre boundaries, driven by similar user taste profiles — adding complementary diversity.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64008" cy="12344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Hybrid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Neither algorithm alone is sufficient. Combining content and collaborative signals yields more robust, diverse, and accurate recommendations.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64008" cy="1234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Cold Start Limitation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163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New users or movies with no ratings/descriptions cannot be recommended effectively. This is a known limitation of both pure approaches.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94760"/>
            <a:ext cx="64008" cy="123444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Data Quality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336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Movies with richer, more specific descriptions produced higher-quality recommendations. Sparse or generic descriptions lowered similarity scores.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94760"/>
            <a:ext cx="64008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86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Scalability Note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2336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The N×N cosine similarity matrix becomes memory-intensive for very large datasets. Approximate methods (LSH, ANN) should be explored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0F4FA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7373"/>
                </a:solidFill>
              </a:rPr>
              <a:t>Challenges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28600" cy="2286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813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Cold Start: No recommendations for new users/movies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28600" cy="2286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Data Sparsity: Sparse rating matrix weakens CF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228600" cy="2286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614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Scalability: N×N matrix grows quadratically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28600" cy="2286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0156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Exact Matching: Title lookup requires precise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228600" cy="2286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416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Text Quality: Poor descriptions yield weak TF-IDF vectors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53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640080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08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Short-Term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7840" y="1508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Add fuzzy matching + Streamlit web UI + popularity filter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148840"/>
            <a:ext cx="640080" cy="3474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48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Mid-Term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4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Hybrid scoring combining content + CF scores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88920"/>
            <a:ext cx="64008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889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Advanced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Sentence-BERT embeddings for richer semantic similarity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429000"/>
            <a:ext cx="64008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29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778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REST API deployment + A/B testing framework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069080"/>
            <a:ext cx="64008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069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784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</a:rPr>
              <a:t>Session-based RNNs for sequential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 &amp; Libraries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3.x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069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Primary language for the entire ML pipeline, scripting, and data manipulation.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424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pandas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069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Data Manipulation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Used for loading CSVs, merging datasets, groupby aggregations, and creating the tags column.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14800" cy="5029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numpy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035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Numerical Computing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Underpins array operations and supports similarity computations at scale.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411480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0358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ML Framework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Provides TfidfVectorizer and cosine_similarity — the two key ML tools in the project.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C6E">
              <a:alpha val="30000"/>
            </a:srgbClr>
          </a:solidFill>
          <a:ln w="12700">
            <a:solidFill>
              <a:srgbClr val="1A3C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2196F3">
              <a:alpha val="40000"/>
            </a:srgbClr>
          </a:solidFill>
          <a:ln w="12700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463040" cy="3200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Project Successfully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Completed!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066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Dual-algorithm recommender built and validated end-to-end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455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TF-IDF + Cosine Similarity produced genre-coherent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84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Collaborative filtering added personalization beyond metadata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201168" cy="2011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Clear roadmap identified for production-grade enhancements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029200" cy="0"/>
          </a:xfrm>
          <a:prstGeom prst="line">
            <a:avLst/>
          </a:prstGeom>
          <a:noFill/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AI Internship Project  |  Movie Recommendation System  |  2024–2025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 - AI Internship</dc:title>
  <dc:subject>PptxGenJS Presentation</dc:subject>
  <dc:creator>PptxGenJS</dc:creator>
  <cp:lastModifiedBy>PptxGenJS</cp:lastModifiedBy>
  <cp:revision>1</cp:revision>
  <dcterms:created xsi:type="dcterms:W3CDTF">2026-04-26T09:52:18Z</dcterms:created>
  <dcterms:modified xsi:type="dcterms:W3CDTF">2026-04-26T09:52:18Z</dcterms:modified>
</cp:coreProperties>
</file>